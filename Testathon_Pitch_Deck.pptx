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oppins" charset="1" panose="00000500000000000000"/>
      <p:regular r:id="rId15"/>
    </p:embeddedFont>
    <p:embeddedFont>
      <p:font typeface="Open Sauce" charset="1" panose="00000500000000000000"/>
      <p:regular r:id="rId16"/>
    </p:embeddedFont>
    <p:embeddedFont>
      <p:font typeface="Open Sauce Italics" charset="1" panose="00000500000000000000"/>
      <p:regular r:id="rId17"/>
    </p:embeddedFont>
    <p:embeddedFont>
      <p:font typeface="Open Sauce Bold Italics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.png" Type="http://schemas.openxmlformats.org/officeDocument/2006/relationships/image"/><Relationship Id="rId5" Target="../media/image10.png" Type="http://schemas.openxmlformats.org/officeDocument/2006/relationships/image"/><Relationship Id="rId6" Target="../media/image11.jpeg" Type="http://schemas.openxmlformats.org/officeDocument/2006/relationships/image"/><Relationship Id="rId7" Target="../media/VAHK60yrC-g.mp4" Type="http://schemas.openxmlformats.org/officeDocument/2006/relationships/video"/><Relationship Id="rId8" Target="../media/VAHK60yrC-g.mp4" Type="http://schemas.microsoft.com/office/2007/relationships/media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VAHK7Ksq4Ec.mp4" Type="http://schemas.openxmlformats.org/officeDocument/2006/relationships/video"/><Relationship Id="rId4" Target="../media/VAHK7Ksq4Ec.mp4" Type="http://schemas.microsoft.com/office/2007/relationships/media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VAHK7GMc87I.mp4" Type="http://schemas.openxmlformats.org/officeDocument/2006/relationships/video"/><Relationship Id="rId4" Target="../media/VAHK7GMc87I.mp4" Type="http://schemas.microsoft.com/office/2007/relationships/media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7.png" Type="http://schemas.openxmlformats.org/officeDocument/2006/relationships/image"/><Relationship Id="rId5" Target="../media/image2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4134" y="1702613"/>
            <a:ext cx="16230600" cy="6881774"/>
          </a:xfrm>
          <a:custGeom>
            <a:avLst/>
            <a:gdLst/>
            <a:ahLst/>
            <a:cxnLst/>
            <a:rect r="r" b="b" t="t" l="l"/>
            <a:pathLst>
              <a:path h="6881774" w="16230600">
                <a:moveTo>
                  <a:pt x="0" y="0"/>
                </a:moveTo>
                <a:lnTo>
                  <a:pt x="16230600" y="0"/>
                </a:lnTo>
                <a:lnTo>
                  <a:pt x="16230600" y="6881774"/>
                </a:lnTo>
                <a:lnTo>
                  <a:pt x="0" y="6881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71750" y="8114719"/>
            <a:ext cx="1893561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28 MAY 2026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345378" y="1905000"/>
            <a:ext cx="370872" cy="384751"/>
            <a:chOff x="0" y="0"/>
            <a:chExt cx="494495" cy="513001"/>
          </a:xfrm>
        </p:grpSpPr>
        <p:sp>
          <p:nvSpPr>
            <p:cNvPr name="AutoShape 5" id="5"/>
            <p:cNvSpPr/>
            <p:nvPr/>
          </p:nvSpPr>
          <p:spPr>
            <a:xfrm>
              <a:off x="13740" y="19050"/>
              <a:ext cx="480755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 flipV="true">
              <a:off x="475445" y="19050"/>
              <a:ext cx="0" cy="480755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V="true">
              <a:off x="13740" y="19050"/>
              <a:ext cx="461705" cy="480755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2577506" y="7427014"/>
            <a:ext cx="3138744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19"/>
              </a:lnSpc>
            </a:pPr>
            <a:r>
              <a:rPr lang="en-US" sz="2099" spc="-104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Maxim Staver</a:t>
            </a:r>
          </a:p>
          <a:p>
            <a:pPr algn="r">
              <a:lnSpc>
                <a:spcPts val="2519"/>
              </a:lnSpc>
            </a:pPr>
            <a:r>
              <a:rPr lang="en-US" sz="2099" spc="-104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Florin-Marian Puscas</a:t>
            </a:r>
          </a:p>
          <a:p>
            <a:pPr algn="r">
              <a:lnSpc>
                <a:spcPts val="2519"/>
              </a:lnSpc>
            </a:pPr>
            <a:r>
              <a:rPr lang="en-US" sz="2099" spc="-104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Catalin-Ioan Batin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91221" y="3776918"/>
            <a:ext cx="7486232" cy="3209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6"/>
              </a:lnSpc>
            </a:pPr>
            <a:r>
              <a:rPr lang="en-US" sz="14293" spc="-1172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Team DEDSEC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163883" y="1702613"/>
            <a:ext cx="2408756" cy="975546"/>
          </a:xfrm>
          <a:custGeom>
            <a:avLst/>
            <a:gdLst/>
            <a:ahLst/>
            <a:cxnLst/>
            <a:rect r="r" b="b" t="t" l="l"/>
            <a:pathLst>
              <a:path h="975546" w="2408756">
                <a:moveTo>
                  <a:pt x="0" y="0"/>
                </a:moveTo>
                <a:lnTo>
                  <a:pt x="2408757" y="0"/>
                </a:lnTo>
                <a:lnTo>
                  <a:pt x="2408757" y="975546"/>
                </a:lnTo>
                <a:lnTo>
                  <a:pt x="0" y="975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1026089"/>
            <a:ext cx="1028700" cy="8229534"/>
            <a:chOff x="0" y="0"/>
            <a:chExt cx="270933" cy="21674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" cy="2167449"/>
            </a:xfrm>
            <a:custGeom>
              <a:avLst/>
              <a:gdLst/>
              <a:ahLst/>
              <a:cxnLst/>
              <a:rect r="r" b="b" t="t" l="l"/>
              <a:pathLst>
                <a:path h="2167449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167449"/>
                  </a:lnTo>
                  <a:lnTo>
                    <a:pt x="0" y="2167449"/>
                  </a:lnTo>
                  <a:close/>
                </a:path>
              </a:pathLst>
            </a:custGeom>
            <a:solidFill>
              <a:srgbClr val="2020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70933" cy="2196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17689" y="2781264"/>
            <a:ext cx="3403163" cy="90271"/>
            <a:chOff x="0" y="0"/>
            <a:chExt cx="896306" cy="237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96306" cy="23775"/>
            </a:xfrm>
            <a:custGeom>
              <a:avLst/>
              <a:gdLst/>
              <a:ahLst/>
              <a:cxnLst/>
              <a:rect r="r" b="b" t="t" l="l"/>
              <a:pathLst>
                <a:path h="23775" w="896306">
                  <a:moveTo>
                    <a:pt x="0" y="0"/>
                  </a:moveTo>
                  <a:lnTo>
                    <a:pt x="896306" y="0"/>
                  </a:lnTo>
                  <a:lnTo>
                    <a:pt x="896306" y="23775"/>
                  </a:lnTo>
                  <a:lnTo>
                    <a:pt x="0" y="237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96306" cy="52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59888" y="5976089"/>
            <a:ext cx="272918" cy="211884"/>
          </a:xfrm>
          <a:custGeom>
            <a:avLst/>
            <a:gdLst/>
            <a:ahLst/>
            <a:cxnLst/>
            <a:rect r="r" b="b" t="t" l="l"/>
            <a:pathLst>
              <a:path h="211884" w="272918">
                <a:moveTo>
                  <a:pt x="0" y="0"/>
                </a:moveTo>
                <a:lnTo>
                  <a:pt x="272918" y="0"/>
                </a:lnTo>
                <a:lnTo>
                  <a:pt x="272918" y="211884"/>
                </a:lnTo>
                <a:lnTo>
                  <a:pt x="0" y="2118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9502196" y="1026089"/>
            <a:ext cx="272918" cy="211884"/>
          </a:xfrm>
          <a:custGeom>
            <a:avLst/>
            <a:gdLst/>
            <a:ahLst/>
            <a:cxnLst/>
            <a:rect r="r" b="b" t="t" l="l"/>
            <a:pathLst>
              <a:path h="211884" w="272918">
                <a:moveTo>
                  <a:pt x="272918" y="211884"/>
                </a:moveTo>
                <a:lnTo>
                  <a:pt x="0" y="211884"/>
                </a:lnTo>
                <a:lnTo>
                  <a:pt x="0" y="0"/>
                </a:lnTo>
                <a:lnTo>
                  <a:pt x="272918" y="0"/>
                </a:lnTo>
                <a:lnTo>
                  <a:pt x="272918" y="2118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059888" y="1026089"/>
            <a:ext cx="272918" cy="211884"/>
          </a:xfrm>
          <a:custGeom>
            <a:avLst/>
            <a:gdLst/>
            <a:ahLst/>
            <a:cxnLst/>
            <a:rect r="r" b="b" t="t" l="l"/>
            <a:pathLst>
              <a:path h="211884" w="272918">
                <a:moveTo>
                  <a:pt x="0" y="211884"/>
                </a:moveTo>
                <a:lnTo>
                  <a:pt x="272918" y="211884"/>
                </a:lnTo>
                <a:lnTo>
                  <a:pt x="272918" y="0"/>
                </a:lnTo>
                <a:lnTo>
                  <a:pt x="0" y="0"/>
                </a:lnTo>
                <a:lnTo>
                  <a:pt x="0" y="2118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9533383" y="5976089"/>
            <a:ext cx="272918" cy="211884"/>
          </a:xfrm>
          <a:custGeom>
            <a:avLst/>
            <a:gdLst/>
            <a:ahLst/>
            <a:cxnLst/>
            <a:rect r="r" b="b" t="t" l="l"/>
            <a:pathLst>
              <a:path h="211884" w="272918">
                <a:moveTo>
                  <a:pt x="272919" y="0"/>
                </a:moveTo>
                <a:lnTo>
                  <a:pt x="0" y="0"/>
                </a:lnTo>
                <a:lnTo>
                  <a:pt x="0" y="211884"/>
                </a:lnTo>
                <a:lnTo>
                  <a:pt x="272919" y="211884"/>
                </a:lnTo>
                <a:lnTo>
                  <a:pt x="27291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584543" y="8184535"/>
            <a:ext cx="2709294" cy="1097264"/>
          </a:xfrm>
          <a:custGeom>
            <a:avLst/>
            <a:gdLst/>
            <a:ahLst/>
            <a:cxnLst/>
            <a:rect r="r" b="b" t="t" l="l"/>
            <a:pathLst>
              <a:path h="1097264" w="2709294">
                <a:moveTo>
                  <a:pt x="0" y="0"/>
                </a:moveTo>
                <a:lnTo>
                  <a:pt x="2709294" y="0"/>
                </a:lnTo>
                <a:lnTo>
                  <a:pt x="2709294" y="1097264"/>
                </a:lnTo>
                <a:lnTo>
                  <a:pt x="0" y="10972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625452" y="4699739"/>
            <a:ext cx="2932502" cy="2932502"/>
          </a:xfrm>
          <a:custGeom>
            <a:avLst/>
            <a:gdLst/>
            <a:ahLst/>
            <a:cxnLst/>
            <a:rect r="r" b="b" t="t" l="l"/>
            <a:pathLst>
              <a:path h="2932502" w="2932502">
                <a:moveTo>
                  <a:pt x="0" y="0"/>
                </a:moveTo>
                <a:lnTo>
                  <a:pt x="2932502" y="0"/>
                </a:lnTo>
                <a:lnTo>
                  <a:pt x="2932502" y="2932502"/>
                </a:lnTo>
                <a:lnTo>
                  <a:pt x="0" y="29325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891329" y="6462991"/>
            <a:ext cx="2726888" cy="1972862"/>
          </a:xfrm>
          <a:custGeom>
            <a:avLst/>
            <a:gdLst/>
            <a:ahLst/>
            <a:cxnLst/>
            <a:rect r="r" b="b" t="t" l="l"/>
            <a:pathLst>
              <a:path h="1972862" w="2726888">
                <a:moveTo>
                  <a:pt x="0" y="0"/>
                </a:moveTo>
                <a:lnTo>
                  <a:pt x="2726888" y="0"/>
                </a:lnTo>
                <a:lnTo>
                  <a:pt x="2726888" y="1972862"/>
                </a:lnTo>
                <a:lnTo>
                  <a:pt x="0" y="19728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5740837" y="4498614"/>
            <a:ext cx="3403163" cy="90271"/>
            <a:chOff x="0" y="0"/>
            <a:chExt cx="896306" cy="237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96306" cy="23775"/>
            </a:xfrm>
            <a:custGeom>
              <a:avLst/>
              <a:gdLst/>
              <a:ahLst/>
              <a:cxnLst/>
              <a:rect r="r" b="b" t="t" l="l"/>
              <a:pathLst>
                <a:path h="23775" w="896306">
                  <a:moveTo>
                    <a:pt x="0" y="0"/>
                  </a:moveTo>
                  <a:lnTo>
                    <a:pt x="896306" y="0"/>
                  </a:lnTo>
                  <a:lnTo>
                    <a:pt x="896306" y="23775"/>
                  </a:lnTo>
                  <a:lnTo>
                    <a:pt x="0" y="237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896306" cy="52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2710001" y="2705287"/>
            <a:ext cx="5771773" cy="2638807"/>
          </a:xfrm>
          <a:custGeom>
            <a:avLst/>
            <a:gdLst/>
            <a:ahLst/>
            <a:cxnLst/>
            <a:rect r="r" b="b" t="t" l="l"/>
            <a:pathLst>
              <a:path h="2638807" w="5771773">
                <a:moveTo>
                  <a:pt x="0" y="0"/>
                </a:moveTo>
                <a:lnTo>
                  <a:pt x="5771773" y="0"/>
                </a:lnTo>
                <a:lnTo>
                  <a:pt x="5771773" y="2638807"/>
                </a:lnTo>
                <a:lnTo>
                  <a:pt x="0" y="26388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323048" y="1333471"/>
            <a:ext cx="4241011" cy="2385569"/>
          </a:xfrm>
          <a:custGeom>
            <a:avLst/>
            <a:gdLst/>
            <a:ahLst/>
            <a:cxnLst/>
            <a:rect r="r" b="b" t="t" l="l"/>
            <a:pathLst>
              <a:path h="2385569" w="4241011">
                <a:moveTo>
                  <a:pt x="0" y="0"/>
                </a:moveTo>
                <a:lnTo>
                  <a:pt x="4241011" y="0"/>
                </a:lnTo>
                <a:lnTo>
                  <a:pt x="4241011" y="2385569"/>
                </a:lnTo>
                <a:lnTo>
                  <a:pt x="0" y="23855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6710641"/>
            <a:ext cx="9799730" cy="816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9"/>
              </a:lnSpc>
            </a:pPr>
            <a:r>
              <a:rPr lang="en-US" sz="7011" spc="-574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Machine vs Adversary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17689" y="1890836"/>
            <a:ext cx="3403163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120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Stream 1: "The Machine" (Automated E2E)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17689" y="3415254"/>
            <a:ext cx="3403163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i="true" spc="-99">
                <a:solidFill>
                  <a:srgbClr val="E8E8E8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Playwright &amp; k6 testing against Dockerized local deployment.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02468" y="4753544"/>
            <a:ext cx="3403163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spc="-99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Continuous functional testing across all 5 user roles.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882961" y="1890836"/>
            <a:ext cx="3403163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i="true" spc="-99">
                <a:solidFill>
                  <a:srgbClr val="E8E8E8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Bypassing the frontend UI using Burp Suite and cURL.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882961" y="3265467"/>
            <a:ext cx="340316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spc="-104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Payload manipulation and boundary value fuzzing.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740837" y="4697249"/>
            <a:ext cx="3403163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120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Stream 2: "The Adversary" (Manual &amp; Security)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151811"/>
            <a:ext cx="5634593" cy="4106489"/>
            <a:chOff x="0" y="0"/>
            <a:chExt cx="1484008" cy="10815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4008" cy="1081544"/>
            </a:xfrm>
            <a:custGeom>
              <a:avLst/>
              <a:gdLst/>
              <a:ahLst/>
              <a:cxnLst/>
              <a:rect r="r" b="b" t="t" l="l"/>
              <a:pathLst>
                <a:path h="1081544" w="1484008">
                  <a:moveTo>
                    <a:pt x="0" y="0"/>
                  </a:moveTo>
                  <a:lnTo>
                    <a:pt x="1484008" y="0"/>
                  </a:lnTo>
                  <a:lnTo>
                    <a:pt x="1484008" y="1081544"/>
                  </a:lnTo>
                  <a:lnTo>
                    <a:pt x="0" y="1081544"/>
                  </a:lnTo>
                  <a:close/>
                </a:path>
              </a:pathLst>
            </a:custGeom>
            <a:solidFill>
              <a:srgbClr val="2020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84008" cy="1110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690065"/>
            <a:ext cx="5634593" cy="90271"/>
            <a:chOff x="0" y="0"/>
            <a:chExt cx="1484008" cy="237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84008" cy="23775"/>
            </a:xfrm>
            <a:custGeom>
              <a:avLst/>
              <a:gdLst/>
              <a:ahLst/>
              <a:cxnLst/>
              <a:rect r="r" b="b" t="t" l="l"/>
              <a:pathLst>
                <a:path h="23775" w="1484008">
                  <a:moveTo>
                    <a:pt x="0" y="0"/>
                  </a:moveTo>
                  <a:lnTo>
                    <a:pt x="1484008" y="0"/>
                  </a:lnTo>
                  <a:lnTo>
                    <a:pt x="1484008" y="23775"/>
                  </a:lnTo>
                  <a:lnTo>
                    <a:pt x="0" y="237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84008" cy="52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070673" y="9046416"/>
            <a:ext cx="272918" cy="211884"/>
          </a:xfrm>
          <a:custGeom>
            <a:avLst/>
            <a:gdLst/>
            <a:ahLst/>
            <a:cxnLst/>
            <a:rect r="r" b="b" t="t" l="l"/>
            <a:pathLst>
              <a:path h="211884" w="272918">
                <a:moveTo>
                  <a:pt x="0" y="0"/>
                </a:moveTo>
                <a:lnTo>
                  <a:pt x="272918" y="0"/>
                </a:lnTo>
                <a:lnTo>
                  <a:pt x="272918" y="211884"/>
                </a:lnTo>
                <a:lnTo>
                  <a:pt x="0" y="2118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7358745" y="9046416"/>
            <a:ext cx="272918" cy="211884"/>
          </a:xfrm>
          <a:custGeom>
            <a:avLst/>
            <a:gdLst/>
            <a:ahLst/>
            <a:cxnLst/>
            <a:rect r="r" b="b" t="t" l="l"/>
            <a:pathLst>
              <a:path h="211884" w="272918">
                <a:moveTo>
                  <a:pt x="272918" y="0"/>
                </a:moveTo>
                <a:lnTo>
                  <a:pt x="0" y="0"/>
                </a:lnTo>
                <a:lnTo>
                  <a:pt x="0" y="211884"/>
                </a:lnTo>
                <a:lnTo>
                  <a:pt x="272918" y="211884"/>
                </a:lnTo>
                <a:lnTo>
                  <a:pt x="2729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7070673" y="2965543"/>
            <a:ext cx="272918" cy="211884"/>
          </a:xfrm>
          <a:custGeom>
            <a:avLst/>
            <a:gdLst/>
            <a:ahLst/>
            <a:cxnLst/>
            <a:rect r="r" b="b" t="t" l="l"/>
            <a:pathLst>
              <a:path h="211884" w="272918">
                <a:moveTo>
                  <a:pt x="0" y="211884"/>
                </a:moveTo>
                <a:lnTo>
                  <a:pt x="272918" y="211884"/>
                </a:lnTo>
                <a:lnTo>
                  <a:pt x="272918" y="0"/>
                </a:lnTo>
                <a:lnTo>
                  <a:pt x="0" y="0"/>
                </a:lnTo>
                <a:lnTo>
                  <a:pt x="0" y="2118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7358745" y="2965543"/>
            <a:ext cx="272918" cy="211884"/>
          </a:xfrm>
          <a:custGeom>
            <a:avLst/>
            <a:gdLst/>
            <a:ahLst/>
            <a:cxnLst/>
            <a:rect r="r" b="b" t="t" l="l"/>
            <a:pathLst>
              <a:path h="211884" w="272918">
                <a:moveTo>
                  <a:pt x="272918" y="211884"/>
                </a:moveTo>
                <a:lnTo>
                  <a:pt x="0" y="211884"/>
                </a:lnTo>
                <a:lnTo>
                  <a:pt x="0" y="0"/>
                </a:lnTo>
                <a:lnTo>
                  <a:pt x="272918" y="0"/>
                </a:lnTo>
                <a:lnTo>
                  <a:pt x="272918" y="2118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3550808"/>
            <a:ext cx="5634593" cy="90271"/>
            <a:chOff x="0" y="0"/>
            <a:chExt cx="1484008" cy="237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84008" cy="23775"/>
            </a:xfrm>
            <a:custGeom>
              <a:avLst/>
              <a:gdLst/>
              <a:ahLst/>
              <a:cxnLst/>
              <a:rect r="r" b="b" t="t" l="l"/>
              <a:pathLst>
                <a:path h="23775" w="1484008">
                  <a:moveTo>
                    <a:pt x="0" y="0"/>
                  </a:moveTo>
                  <a:lnTo>
                    <a:pt x="1484008" y="0"/>
                  </a:lnTo>
                  <a:lnTo>
                    <a:pt x="1484008" y="23775"/>
                  </a:lnTo>
                  <a:lnTo>
                    <a:pt x="0" y="237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484008" cy="52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28700" y="978935"/>
            <a:ext cx="3858865" cy="1562840"/>
          </a:xfrm>
          <a:custGeom>
            <a:avLst/>
            <a:gdLst/>
            <a:ahLst/>
            <a:cxnLst/>
            <a:rect r="r" b="b" t="t" l="l"/>
            <a:pathLst>
              <a:path h="1562840" w="3858865">
                <a:moveTo>
                  <a:pt x="0" y="0"/>
                </a:moveTo>
                <a:lnTo>
                  <a:pt x="3858865" y="0"/>
                </a:lnTo>
                <a:lnTo>
                  <a:pt x="3858865" y="1562841"/>
                </a:lnTo>
                <a:lnTo>
                  <a:pt x="0" y="15628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438841" y="3356824"/>
            <a:ext cx="9820459" cy="5352150"/>
          </a:xfrm>
          <a:custGeom>
            <a:avLst/>
            <a:gdLst/>
            <a:ahLst/>
            <a:cxnLst/>
            <a:rect r="r" b="b" t="t" l="l"/>
            <a:pathLst>
              <a:path h="5352150" w="9820459">
                <a:moveTo>
                  <a:pt x="0" y="0"/>
                </a:moveTo>
                <a:lnTo>
                  <a:pt x="9820459" y="0"/>
                </a:lnTo>
                <a:lnTo>
                  <a:pt x="9820459" y="5352150"/>
                </a:lnTo>
                <a:lnTo>
                  <a:pt x="0" y="5352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589799" y="1115488"/>
            <a:ext cx="9363667" cy="720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4"/>
              </a:lnSpc>
            </a:pPr>
            <a:r>
              <a:rPr lang="en-US" sz="6124" spc="-502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RBAC Routing Collapse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3947082"/>
            <a:ext cx="563459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2899" spc="-144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Total Stakeholder Lockout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45293" y="5701137"/>
            <a:ext cx="455885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spc="-99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Affected Roles: Admin, Industry, Policy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33181" y="6614506"/>
            <a:ext cx="4558854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spc="-99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The Issue: Frontend routing middleware fails, triggering a forceful redirect to the public homepage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5293" y="8118424"/>
            <a:ext cx="4558854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spc="-99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Education Role: Bypasses redirect, but sidebar navigation fails to render.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3579" y="3042896"/>
            <a:ext cx="11993380" cy="6409184"/>
            <a:chOff x="0" y="0"/>
            <a:chExt cx="3158750" cy="1688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58750" cy="1688015"/>
            </a:xfrm>
            <a:custGeom>
              <a:avLst/>
              <a:gdLst/>
              <a:ahLst/>
              <a:cxnLst/>
              <a:rect r="r" b="b" t="t" l="l"/>
              <a:pathLst>
                <a:path h="1688015" w="3158750">
                  <a:moveTo>
                    <a:pt x="0" y="0"/>
                  </a:moveTo>
                  <a:lnTo>
                    <a:pt x="3158750" y="0"/>
                  </a:lnTo>
                  <a:lnTo>
                    <a:pt x="3158750" y="1688015"/>
                  </a:lnTo>
                  <a:lnTo>
                    <a:pt x="0" y="1688015"/>
                  </a:lnTo>
                  <a:close/>
                </a:path>
              </a:pathLst>
            </a:custGeom>
            <a:solidFill>
              <a:srgbClr val="2020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158750" cy="1716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600964" y="9046416"/>
            <a:ext cx="272918" cy="211884"/>
          </a:xfrm>
          <a:custGeom>
            <a:avLst/>
            <a:gdLst/>
            <a:ahLst/>
            <a:cxnLst/>
            <a:rect r="r" b="b" t="t" l="l"/>
            <a:pathLst>
              <a:path h="211884" w="272918">
                <a:moveTo>
                  <a:pt x="0" y="0"/>
                </a:moveTo>
                <a:lnTo>
                  <a:pt x="272918" y="0"/>
                </a:lnTo>
                <a:lnTo>
                  <a:pt x="272918" y="211884"/>
                </a:lnTo>
                <a:lnTo>
                  <a:pt x="0" y="2118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6986382" y="4181355"/>
            <a:ext cx="272918" cy="211884"/>
          </a:xfrm>
          <a:custGeom>
            <a:avLst/>
            <a:gdLst/>
            <a:ahLst/>
            <a:cxnLst/>
            <a:rect r="r" b="b" t="t" l="l"/>
            <a:pathLst>
              <a:path h="211884" w="272918">
                <a:moveTo>
                  <a:pt x="272918" y="211884"/>
                </a:moveTo>
                <a:lnTo>
                  <a:pt x="0" y="211884"/>
                </a:lnTo>
                <a:lnTo>
                  <a:pt x="0" y="0"/>
                </a:lnTo>
                <a:lnTo>
                  <a:pt x="272918" y="0"/>
                </a:lnTo>
                <a:lnTo>
                  <a:pt x="272918" y="2118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2600964" y="4181355"/>
            <a:ext cx="272918" cy="211884"/>
          </a:xfrm>
          <a:custGeom>
            <a:avLst/>
            <a:gdLst/>
            <a:ahLst/>
            <a:cxnLst/>
            <a:rect r="r" b="b" t="t" l="l"/>
            <a:pathLst>
              <a:path h="211884" w="272918">
                <a:moveTo>
                  <a:pt x="0" y="211884"/>
                </a:moveTo>
                <a:lnTo>
                  <a:pt x="272918" y="211884"/>
                </a:lnTo>
                <a:lnTo>
                  <a:pt x="272918" y="0"/>
                </a:lnTo>
                <a:lnTo>
                  <a:pt x="0" y="0"/>
                </a:lnTo>
                <a:lnTo>
                  <a:pt x="0" y="2118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455739" y="8582559"/>
            <a:ext cx="1803561" cy="675741"/>
          </a:xfrm>
          <a:custGeom>
            <a:avLst/>
            <a:gdLst/>
            <a:ahLst/>
            <a:cxnLst/>
            <a:rect r="r" b="b" t="t" l="l"/>
            <a:pathLst>
              <a:path h="675741" w="1803561">
                <a:moveTo>
                  <a:pt x="0" y="0"/>
                </a:moveTo>
                <a:lnTo>
                  <a:pt x="1803561" y="0"/>
                </a:lnTo>
                <a:lnTo>
                  <a:pt x="1803561" y="675741"/>
                </a:lnTo>
                <a:lnTo>
                  <a:pt x="0" y="6757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8095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636417" y="273500"/>
            <a:ext cx="6038437" cy="3803080"/>
          </a:xfrm>
          <a:custGeom>
            <a:avLst/>
            <a:gdLst/>
            <a:ahLst/>
            <a:cxnLst/>
            <a:rect r="r" b="b" t="t" l="l"/>
            <a:pathLst>
              <a:path h="3803080" w="6038437">
                <a:moveTo>
                  <a:pt x="0" y="0"/>
                </a:moveTo>
                <a:lnTo>
                  <a:pt x="6038437" y="0"/>
                </a:lnTo>
                <a:lnTo>
                  <a:pt x="6038437" y="3803080"/>
                </a:lnTo>
                <a:lnTo>
                  <a:pt x="0" y="38030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1949" t="-1368" r="-104320" b="-106519"/>
            </a:stretch>
          </a:blipFill>
        </p:spPr>
      </p:sp>
      <p:pic>
        <p:nvPicPr>
          <p:cNvPr name="Picture 10" id="10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588793" y="3300977"/>
            <a:ext cx="11322953" cy="5745439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028700" y="1124163"/>
            <a:ext cx="11572264" cy="93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5"/>
              </a:lnSpc>
            </a:pPr>
            <a:r>
              <a:rPr lang="en-US" sz="8018" spc="-657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System Stability Issues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73882" y="4502094"/>
            <a:ext cx="4112499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120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Resource Exhaustion: Browser freezing from uncapped input fields (Login, Register, Search).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73882" y="5841515"/>
            <a:ext cx="4112499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120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API Timeouts: External Job Sources API triggers 30-second hard timeouts.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73882" y="7180936"/>
            <a:ext cx="4112499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120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Hanging Requests: Invalid Turf Analysis queries stuck in "Pending" indefinitely.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700808" y="2041928"/>
            <a:ext cx="14284499" cy="7525273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0495625" y="6220639"/>
            <a:ext cx="7056503" cy="3346562"/>
            <a:chOff x="0" y="0"/>
            <a:chExt cx="1858503" cy="8813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58503" cy="881399"/>
            </a:xfrm>
            <a:custGeom>
              <a:avLst/>
              <a:gdLst/>
              <a:ahLst/>
              <a:cxnLst/>
              <a:rect r="r" b="b" t="t" l="l"/>
              <a:pathLst>
                <a:path h="881399" w="1858503">
                  <a:moveTo>
                    <a:pt x="0" y="0"/>
                  </a:moveTo>
                  <a:lnTo>
                    <a:pt x="1858503" y="0"/>
                  </a:lnTo>
                  <a:lnTo>
                    <a:pt x="1858503" y="881399"/>
                  </a:lnTo>
                  <a:lnTo>
                    <a:pt x="0" y="881399"/>
                  </a:lnTo>
                  <a:close/>
                </a:path>
              </a:pathLst>
            </a:custGeom>
            <a:solidFill>
              <a:srgbClr val="20202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858503" cy="909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974668" y="6589308"/>
            <a:ext cx="6339270" cy="105600"/>
            <a:chOff x="0" y="0"/>
            <a:chExt cx="1427238" cy="23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27238" cy="23775"/>
            </a:xfrm>
            <a:custGeom>
              <a:avLst/>
              <a:gdLst/>
              <a:ahLst/>
              <a:cxnLst/>
              <a:rect r="r" b="b" t="t" l="l"/>
              <a:pathLst>
                <a:path h="23775" w="1427238">
                  <a:moveTo>
                    <a:pt x="0" y="0"/>
                  </a:moveTo>
                  <a:lnTo>
                    <a:pt x="1427238" y="0"/>
                  </a:lnTo>
                  <a:lnTo>
                    <a:pt x="1427238" y="23775"/>
                  </a:lnTo>
                  <a:lnTo>
                    <a:pt x="0" y="237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427238" cy="52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22706" y="9567200"/>
            <a:ext cx="272918" cy="211884"/>
          </a:xfrm>
          <a:custGeom>
            <a:avLst/>
            <a:gdLst/>
            <a:ahLst/>
            <a:cxnLst/>
            <a:rect r="r" b="b" t="t" l="l"/>
            <a:pathLst>
              <a:path h="211884" w="272918">
                <a:moveTo>
                  <a:pt x="0" y="0"/>
                </a:moveTo>
                <a:lnTo>
                  <a:pt x="272919" y="0"/>
                </a:lnTo>
                <a:lnTo>
                  <a:pt x="272919" y="211884"/>
                </a:lnTo>
                <a:lnTo>
                  <a:pt x="0" y="2118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7552128" y="5998522"/>
            <a:ext cx="272918" cy="211884"/>
          </a:xfrm>
          <a:custGeom>
            <a:avLst/>
            <a:gdLst/>
            <a:ahLst/>
            <a:cxnLst/>
            <a:rect r="r" b="b" t="t" l="l"/>
            <a:pathLst>
              <a:path h="211884" w="272918">
                <a:moveTo>
                  <a:pt x="272918" y="211884"/>
                </a:moveTo>
                <a:lnTo>
                  <a:pt x="0" y="211884"/>
                </a:lnTo>
                <a:lnTo>
                  <a:pt x="0" y="0"/>
                </a:lnTo>
                <a:lnTo>
                  <a:pt x="272918" y="0"/>
                </a:lnTo>
                <a:lnTo>
                  <a:pt x="272918" y="21188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10222706" y="5988289"/>
            <a:ext cx="272918" cy="211884"/>
          </a:xfrm>
          <a:custGeom>
            <a:avLst/>
            <a:gdLst/>
            <a:ahLst/>
            <a:cxnLst/>
            <a:rect r="r" b="b" t="t" l="l"/>
            <a:pathLst>
              <a:path h="211884" w="272918">
                <a:moveTo>
                  <a:pt x="0" y="211884"/>
                </a:moveTo>
                <a:lnTo>
                  <a:pt x="272919" y="211884"/>
                </a:lnTo>
                <a:lnTo>
                  <a:pt x="272919" y="0"/>
                </a:lnTo>
                <a:lnTo>
                  <a:pt x="0" y="0"/>
                </a:lnTo>
                <a:lnTo>
                  <a:pt x="0" y="21188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7552128" y="9577433"/>
            <a:ext cx="272918" cy="211884"/>
          </a:xfrm>
          <a:custGeom>
            <a:avLst/>
            <a:gdLst/>
            <a:ahLst/>
            <a:cxnLst/>
            <a:rect r="r" b="b" t="t" l="l"/>
            <a:pathLst>
              <a:path h="211884" w="272918">
                <a:moveTo>
                  <a:pt x="272918" y="0"/>
                </a:moveTo>
                <a:lnTo>
                  <a:pt x="0" y="0"/>
                </a:lnTo>
                <a:lnTo>
                  <a:pt x="0" y="211884"/>
                </a:lnTo>
                <a:lnTo>
                  <a:pt x="272918" y="211884"/>
                </a:lnTo>
                <a:lnTo>
                  <a:pt x="27291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549019" y="930016"/>
            <a:ext cx="9189963" cy="74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1"/>
              </a:lnSpc>
            </a:pPr>
            <a:r>
              <a:rPr lang="en-US" sz="6371" spc="-522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 The Implicit Trust Problem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33814" y="7156248"/>
            <a:ext cx="6580125" cy="180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9355" indent="-214678" lvl="1">
              <a:lnSpc>
                <a:spcPts val="2386"/>
              </a:lnSpc>
              <a:buFont typeface="Arial"/>
              <a:buChar char="•"/>
            </a:pPr>
            <a:r>
              <a:rPr lang="en-US" sz="1988" spc="-99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Missing Server-Side Validation</a:t>
            </a:r>
          </a:p>
          <a:p>
            <a:pPr algn="l" marL="429355" indent="-214678" lvl="1">
              <a:lnSpc>
                <a:spcPts val="2386"/>
              </a:lnSpc>
              <a:buFont typeface="Arial"/>
              <a:buChar char="•"/>
            </a:pPr>
            <a:r>
              <a:rPr lang="en-US" sz="1988" spc="-99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Frontend complexity rules easily bypassed via API. </a:t>
            </a:r>
          </a:p>
          <a:p>
            <a:pPr algn="l" marL="429355" indent="-214678" lvl="1">
              <a:lnSpc>
                <a:spcPts val="2386"/>
              </a:lnSpc>
              <a:buFont typeface="Arial"/>
              <a:buChar char="•"/>
            </a:pPr>
            <a:r>
              <a:rPr lang="en-US" sz="1988" spc="-99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Password reset execution accepts 3-character strings. </a:t>
            </a:r>
          </a:p>
          <a:p>
            <a:pPr algn="l" marL="429355" indent="-214678" lvl="1">
              <a:lnSpc>
                <a:spcPts val="2386"/>
              </a:lnSpc>
              <a:buFont typeface="Arial"/>
              <a:buChar char="•"/>
            </a:pPr>
            <a:r>
              <a:rPr lang="en-US" sz="1988" spc="-99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Broken Session Management: Active sessions persist across devices after password changes</a:t>
            </a:r>
          </a:p>
          <a:p>
            <a:pPr algn="l">
              <a:lnSpc>
                <a:spcPts val="2386"/>
              </a:lnSpc>
            </a:pP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045999" y="2125414"/>
            <a:ext cx="14196002" cy="7304739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549019" y="930016"/>
            <a:ext cx="9189963" cy="74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1"/>
              </a:lnSpc>
            </a:pPr>
            <a:r>
              <a:rPr lang="en-US" sz="6371" spc="-522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 The Implicit Trust Problem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19046" y="1045766"/>
            <a:ext cx="5540254" cy="8621521"/>
            <a:chOff x="0" y="0"/>
            <a:chExt cx="1459162" cy="22706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59162" cy="2270689"/>
            </a:xfrm>
            <a:custGeom>
              <a:avLst/>
              <a:gdLst/>
              <a:ahLst/>
              <a:cxnLst/>
              <a:rect r="r" b="b" t="t" l="l"/>
              <a:pathLst>
                <a:path h="2270689" w="1459162">
                  <a:moveTo>
                    <a:pt x="0" y="0"/>
                  </a:moveTo>
                  <a:lnTo>
                    <a:pt x="1459162" y="0"/>
                  </a:lnTo>
                  <a:lnTo>
                    <a:pt x="1459162" y="2270689"/>
                  </a:lnTo>
                  <a:lnTo>
                    <a:pt x="0" y="2270689"/>
                  </a:lnTo>
                  <a:close/>
                </a:path>
              </a:pathLst>
            </a:custGeom>
            <a:solidFill>
              <a:srgbClr val="2020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59162" cy="2299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04149" y="2457068"/>
            <a:ext cx="9956293" cy="115053"/>
            <a:chOff x="0" y="0"/>
            <a:chExt cx="2622234" cy="303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22234" cy="30302"/>
            </a:xfrm>
            <a:custGeom>
              <a:avLst/>
              <a:gdLst/>
              <a:ahLst/>
              <a:cxnLst/>
              <a:rect r="r" b="b" t="t" l="l"/>
              <a:pathLst>
                <a:path h="30302" w="2622234">
                  <a:moveTo>
                    <a:pt x="0" y="0"/>
                  </a:moveTo>
                  <a:lnTo>
                    <a:pt x="2622234" y="0"/>
                  </a:lnTo>
                  <a:lnTo>
                    <a:pt x="2622234" y="30302"/>
                  </a:lnTo>
                  <a:lnTo>
                    <a:pt x="0" y="3030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622234" cy="588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04149" y="2824541"/>
            <a:ext cx="8069074" cy="5230020"/>
          </a:xfrm>
          <a:custGeom>
            <a:avLst/>
            <a:gdLst/>
            <a:ahLst/>
            <a:cxnLst/>
            <a:rect r="r" b="b" t="t" l="l"/>
            <a:pathLst>
              <a:path h="5230020" w="8069074">
                <a:moveTo>
                  <a:pt x="0" y="0"/>
                </a:moveTo>
                <a:lnTo>
                  <a:pt x="8069074" y="0"/>
                </a:lnTo>
                <a:lnTo>
                  <a:pt x="8069074" y="5230019"/>
                </a:lnTo>
                <a:lnTo>
                  <a:pt x="0" y="52300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0176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367080" y="5574176"/>
            <a:ext cx="8703930" cy="4251905"/>
          </a:xfrm>
          <a:custGeom>
            <a:avLst/>
            <a:gdLst/>
            <a:ahLst/>
            <a:cxnLst/>
            <a:rect r="r" b="b" t="t" l="l"/>
            <a:pathLst>
              <a:path h="4251905" w="8703930">
                <a:moveTo>
                  <a:pt x="0" y="0"/>
                </a:moveTo>
                <a:lnTo>
                  <a:pt x="8703931" y="0"/>
                </a:lnTo>
                <a:lnTo>
                  <a:pt x="8703931" y="4251905"/>
                </a:lnTo>
                <a:lnTo>
                  <a:pt x="0" y="4251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9840" b="-49508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04149" y="1236266"/>
            <a:ext cx="10193784" cy="654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1"/>
              </a:lnSpc>
            </a:pPr>
            <a:r>
              <a:rPr lang="en-US" sz="5561" spc="-456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Critical BOLA &amp; Account Takeovers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63569" y="1468180"/>
            <a:ext cx="4451207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9"/>
              </a:lnSpc>
              <a:spcBef>
                <a:spcPct val="0"/>
              </a:spcBef>
            </a:pPr>
            <a:r>
              <a:rPr lang="en-US" b="true" sz="1899" i="true" spc="-94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Critical R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is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k: Broke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n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 Object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 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L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eve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l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 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Author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i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z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ation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 (BOLA)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63569" y="2410124"/>
            <a:ext cx="4451207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9"/>
              </a:lnSpc>
              <a:spcBef>
                <a:spcPct val="0"/>
              </a:spcBef>
            </a:pPr>
            <a:r>
              <a:rPr lang="en-US" b="true" sz="1899" i="true" spc="-94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Back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end 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fai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l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 to v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e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r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i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f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y 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activ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e 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e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si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on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 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UUID 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a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gain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t reque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t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ed 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dat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a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.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63569" y="3353099"/>
            <a:ext cx="4451207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9"/>
              </a:lnSpc>
              <a:spcBef>
                <a:spcPct val="0"/>
              </a:spcBef>
            </a:pPr>
            <a:r>
              <a:rPr lang="en-US" b="true" sz="1899" i="true" spc="-94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Data Exposed: 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P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II, bcrypt p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assword 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ha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h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e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s,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 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a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cti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v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e r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ese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t t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oke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ns.</a:t>
            </a:r>
            <a:r>
              <a:rPr lang="en-US" b="true" sz="1899" i="true" spc="-94" strike="noStrike" u="none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63569" y="4582300"/>
            <a:ext cx="4451207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b="true" sz="1899" i="true" spc="-94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Mass Assignment Backdoor: Injection of future-dated password reset tokens (Valid until 2099).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2574" y="1028700"/>
            <a:ext cx="8721802" cy="3754057"/>
            <a:chOff x="0" y="0"/>
            <a:chExt cx="5244382" cy="22572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4382" cy="2257298"/>
            </a:xfrm>
            <a:custGeom>
              <a:avLst/>
              <a:gdLst/>
              <a:ahLst/>
              <a:cxnLst/>
              <a:rect r="r" b="b" t="t" l="l"/>
              <a:pathLst>
                <a:path h="2257298" w="5244382">
                  <a:moveTo>
                    <a:pt x="0" y="0"/>
                  </a:moveTo>
                  <a:lnTo>
                    <a:pt x="5244382" y="0"/>
                  </a:lnTo>
                  <a:lnTo>
                    <a:pt x="5244382" y="2257298"/>
                  </a:lnTo>
                  <a:lnTo>
                    <a:pt x="0" y="2257298"/>
                  </a:lnTo>
                  <a:close/>
                </a:path>
              </a:pathLst>
            </a:custGeom>
            <a:blipFill>
              <a:blip r:embed="rId2"/>
              <a:stretch>
                <a:fillRect l="0" t="-27104" r="0" b="-2710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2574" y="7187676"/>
            <a:ext cx="6427530" cy="90271"/>
            <a:chOff x="0" y="0"/>
            <a:chExt cx="1692847" cy="237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92847" cy="23775"/>
            </a:xfrm>
            <a:custGeom>
              <a:avLst/>
              <a:gdLst/>
              <a:ahLst/>
              <a:cxnLst/>
              <a:rect r="r" b="b" t="t" l="l"/>
              <a:pathLst>
                <a:path h="23775" w="1692847">
                  <a:moveTo>
                    <a:pt x="0" y="0"/>
                  </a:moveTo>
                  <a:lnTo>
                    <a:pt x="1692847" y="0"/>
                  </a:lnTo>
                  <a:lnTo>
                    <a:pt x="1692847" y="23775"/>
                  </a:lnTo>
                  <a:lnTo>
                    <a:pt x="0" y="237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692847" cy="52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2574" y="7749554"/>
            <a:ext cx="7015243" cy="1508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9"/>
              </a:lnSpc>
            </a:pPr>
            <a:r>
              <a:rPr lang="en-US" sz="6749" spc="-553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Architectural Recommendations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43020" y="1028700"/>
            <a:ext cx="6816280" cy="326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b="true" sz="2181" i="true" spc="-109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Enforce Zero-Trust API 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43020" y="1577306"/>
            <a:ext cx="6816280" cy="652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sz="2181" spc="-109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Mandate object-level checks to verify user permissions and implement strict server-side validation.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43020" y="3370691"/>
            <a:ext cx="6816280" cy="326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b="true" sz="2181" i="true" spc="-109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Utilize Data Transfer Objects (DTOs)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43020" y="3919296"/>
            <a:ext cx="6816280" cy="97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sz="2181" spc="-109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Strip sensitive backend fields—such as bcrypt password hashes and reset codes—from all API responses.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43020" y="5714795"/>
            <a:ext cx="6816280" cy="326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b="true" sz="2181" i="true" spc="-109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Repair Enterprise Routing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43020" y="6263401"/>
            <a:ext cx="6816280" cy="652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sz="2181" spc="-109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Audit RBAC routing middleware to restore workspace access for Admin, Industry, and Policy roles.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43020" y="8056786"/>
            <a:ext cx="6816280" cy="326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b="true" sz="2181" i="true" spc="-109">
                <a:solidFill>
                  <a:srgbClr val="E8E8E8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Sanitize Inputs &amp; Stabilize Integrations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43020" y="8605391"/>
            <a:ext cx="6816280" cy="652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7"/>
              </a:lnSpc>
            </a:pPr>
            <a:r>
              <a:rPr lang="en-US" sz="2181" spc="-109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Apply hard input constraints to prevent browser freezing and implement circuit breakers for external APIs.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02620" y="0"/>
            <a:ext cx="8185380" cy="10287000"/>
            <a:chOff x="0" y="0"/>
            <a:chExt cx="215582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582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55820">
                  <a:moveTo>
                    <a:pt x="0" y="0"/>
                  </a:moveTo>
                  <a:lnTo>
                    <a:pt x="2155820" y="0"/>
                  </a:lnTo>
                  <a:lnTo>
                    <a:pt x="215582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020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55820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294" y="614438"/>
            <a:ext cx="8621413" cy="102382"/>
            <a:chOff x="0" y="0"/>
            <a:chExt cx="2270660" cy="269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70660" cy="26965"/>
            </a:xfrm>
            <a:custGeom>
              <a:avLst/>
              <a:gdLst/>
              <a:ahLst/>
              <a:cxnLst/>
              <a:rect r="r" b="b" t="t" l="l"/>
              <a:pathLst>
                <a:path h="26965" w="2270660">
                  <a:moveTo>
                    <a:pt x="0" y="0"/>
                  </a:moveTo>
                  <a:lnTo>
                    <a:pt x="2270660" y="0"/>
                  </a:lnTo>
                  <a:lnTo>
                    <a:pt x="2270660" y="26965"/>
                  </a:lnTo>
                  <a:lnTo>
                    <a:pt x="0" y="2696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270660" cy="55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9046350"/>
            <a:ext cx="272918" cy="211884"/>
          </a:xfrm>
          <a:custGeom>
            <a:avLst/>
            <a:gdLst/>
            <a:ahLst/>
            <a:cxnLst/>
            <a:rect r="r" b="b" t="t" l="l"/>
            <a:pathLst>
              <a:path h="211884" w="272918">
                <a:moveTo>
                  <a:pt x="0" y="0"/>
                </a:moveTo>
                <a:lnTo>
                  <a:pt x="272918" y="0"/>
                </a:lnTo>
                <a:lnTo>
                  <a:pt x="272918" y="211884"/>
                </a:lnTo>
                <a:lnTo>
                  <a:pt x="0" y="2118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8390378" y="3355613"/>
            <a:ext cx="272918" cy="211884"/>
          </a:xfrm>
          <a:custGeom>
            <a:avLst/>
            <a:gdLst/>
            <a:ahLst/>
            <a:cxnLst/>
            <a:rect r="r" b="b" t="t" l="l"/>
            <a:pathLst>
              <a:path h="211884" w="272918">
                <a:moveTo>
                  <a:pt x="272918" y="211884"/>
                </a:moveTo>
                <a:lnTo>
                  <a:pt x="0" y="211884"/>
                </a:lnTo>
                <a:lnTo>
                  <a:pt x="0" y="0"/>
                </a:lnTo>
                <a:lnTo>
                  <a:pt x="272918" y="0"/>
                </a:lnTo>
                <a:lnTo>
                  <a:pt x="272918" y="2118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8390378" y="9046350"/>
            <a:ext cx="272918" cy="211884"/>
          </a:xfrm>
          <a:custGeom>
            <a:avLst/>
            <a:gdLst/>
            <a:ahLst/>
            <a:cxnLst/>
            <a:rect r="r" b="b" t="t" l="l"/>
            <a:pathLst>
              <a:path h="211884" w="272918">
                <a:moveTo>
                  <a:pt x="272918" y="0"/>
                </a:moveTo>
                <a:lnTo>
                  <a:pt x="0" y="0"/>
                </a:lnTo>
                <a:lnTo>
                  <a:pt x="0" y="211884"/>
                </a:lnTo>
                <a:lnTo>
                  <a:pt x="272918" y="211884"/>
                </a:lnTo>
                <a:lnTo>
                  <a:pt x="2729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1028700" y="3355613"/>
            <a:ext cx="272918" cy="211884"/>
          </a:xfrm>
          <a:custGeom>
            <a:avLst/>
            <a:gdLst/>
            <a:ahLst/>
            <a:cxnLst/>
            <a:rect r="r" b="b" t="t" l="l"/>
            <a:pathLst>
              <a:path h="211884" w="272918">
                <a:moveTo>
                  <a:pt x="0" y="211884"/>
                </a:moveTo>
                <a:lnTo>
                  <a:pt x="272918" y="211884"/>
                </a:lnTo>
                <a:lnTo>
                  <a:pt x="272918" y="0"/>
                </a:lnTo>
                <a:lnTo>
                  <a:pt x="0" y="0"/>
                </a:lnTo>
                <a:lnTo>
                  <a:pt x="0" y="2118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082757" y="6674299"/>
            <a:ext cx="2444080" cy="2045047"/>
          </a:xfrm>
          <a:custGeom>
            <a:avLst/>
            <a:gdLst/>
            <a:ahLst/>
            <a:cxnLst/>
            <a:rect r="r" b="b" t="t" l="l"/>
            <a:pathLst>
              <a:path h="2045047" w="2444080">
                <a:moveTo>
                  <a:pt x="0" y="0"/>
                </a:moveTo>
                <a:lnTo>
                  <a:pt x="2444080" y="0"/>
                </a:lnTo>
                <a:lnTo>
                  <a:pt x="2444080" y="2045047"/>
                </a:lnTo>
                <a:lnTo>
                  <a:pt x="0" y="20450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8700" y="1264380"/>
            <a:ext cx="1552856" cy="628907"/>
          </a:xfrm>
          <a:custGeom>
            <a:avLst/>
            <a:gdLst/>
            <a:ahLst/>
            <a:cxnLst/>
            <a:rect r="r" b="b" t="t" l="l"/>
            <a:pathLst>
              <a:path h="628907" w="1552856">
                <a:moveTo>
                  <a:pt x="0" y="0"/>
                </a:moveTo>
                <a:lnTo>
                  <a:pt x="1552856" y="0"/>
                </a:lnTo>
                <a:lnTo>
                  <a:pt x="1552856" y="628906"/>
                </a:lnTo>
                <a:lnTo>
                  <a:pt x="0" y="628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902342" y="1902383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972510" y="3722970"/>
            <a:ext cx="5913555" cy="3326375"/>
          </a:xfrm>
          <a:custGeom>
            <a:avLst/>
            <a:gdLst/>
            <a:ahLst/>
            <a:cxnLst/>
            <a:rect r="r" b="b" t="t" l="l"/>
            <a:pathLst>
              <a:path h="3326375" w="5913555">
                <a:moveTo>
                  <a:pt x="0" y="0"/>
                </a:moveTo>
                <a:lnTo>
                  <a:pt x="5913554" y="0"/>
                </a:lnTo>
                <a:lnTo>
                  <a:pt x="5913554" y="3326374"/>
                </a:lnTo>
                <a:lnTo>
                  <a:pt x="0" y="33263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416948" y="1371600"/>
            <a:ext cx="6685672" cy="1138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5"/>
              </a:lnSpc>
            </a:pPr>
            <a:r>
              <a:rPr lang="en-US" sz="9756" spc="-800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Thank You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7348" y="7119351"/>
            <a:ext cx="4324363" cy="1308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893" spc="-144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Maxim Staver</a:t>
            </a:r>
          </a:p>
          <a:p>
            <a:pPr algn="l">
              <a:lnSpc>
                <a:spcPts val="3471"/>
              </a:lnSpc>
            </a:pPr>
            <a:r>
              <a:rPr lang="en-US" sz="2893" spc="-144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Florin-Marian Puscas</a:t>
            </a:r>
          </a:p>
          <a:p>
            <a:pPr algn="l">
              <a:lnSpc>
                <a:spcPts val="3471"/>
              </a:lnSpc>
            </a:pPr>
            <a:r>
              <a:rPr lang="en-US" sz="2893" spc="-144">
                <a:solidFill>
                  <a:srgbClr val="E8E8E8"/>
                </a:solidFill>
                <a:latin typeface="Open Sauce"/>
                <a:ea typeface="Open Sauce"/>
                <a:cs typeface="Open Sauce"/>
                <a:sym typeface="Open Sauce"/>
              </a:rPr>
              <a:t>Catalin-Ioan Batin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DAHK65ZXDkY</dc:identifier>
  <dcterms:modified xsi:type="dcterms:W3CDTF">2011-08-01T06:04:30Z</dcterms:modified>
  <cp:revision>1</cp:revision>
  <dc:title>Black White and Pink Modern Software Engineer Presentation</dc:title>
</cp:coreProperties>
</file>